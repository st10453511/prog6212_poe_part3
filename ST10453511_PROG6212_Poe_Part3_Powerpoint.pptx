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999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026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86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644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068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512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929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796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893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886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461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998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2" r:id="rId6"/>
    <p:sldLayoutId id="2147483708" r:id="rId7"/>
    <p:sldLayoutId id="2147483709" r:id="rId8"/>
    <p:sldLayoutId id="2147483710" r:id="rId9"/>
    <p:sldLayoutId id="2147483711" r:id="rId10"/>
    <p:sldLayoutId id="214748371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5.png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 /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FA3E23-233A-3C45-C4C2-63AE069724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8159" y="1177348"/>
            <a:ext cx="3330906" cy="448747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600" b="1" dirty="0"/>
              <a:t>Contract Monthly Claim System</a:t>
            </a:r>
            <a:br>
              <a:rPr lang="en-GB" sz="2600" b="1" dirty="0"/>
            </a:br>
            <a:br>
              <a:rPr lang="en-GB" sz="2600" b="1" dirty="0"/>
            </a:br>
            <a:r>
              <a:rPr lang="en-GB" sz="2600" b="1" dirty="0"/>
              <a:t>PROG6212</a:t>
            </a:r>
            <a:br>
              <a:rPr lang="en-GB" sz="2600" b="1" dirty="0"/>
            </a:br>
            <a:r>
              <a:rPr lang="en-GB" sz="2600" b="1" dirty="0"/>
              <a:t>ST10453511</a:t>
            </a:r>
            <a:br>
              <a:rPr lang="en-GB" sz="2600" b="1" dirty="0"/>
            </a:br>
            <a:r>
              <a:rPr lang="en-GB" sz="2600" b="1" dirty="0"/>
              <a:t>Moegammad Alexander</a:t>
            </a:r>
            <a:br>
              <a:rPr lang="en-GB" sz="2600" b="1" dirty="0"/>
            </a:br>
            <a:r>
              <a:rPr lang="en-GB" sz="2600" b="1" dirty="0"/>
              <a:t>Group 1</a:t>
            </a:r>
            <a:br>
              <a:rPr lang="en-GB" sz="2600" b="1" dirty="0"/>
            </a:br>
            <a:br>
              <a:rPr lang="en-GB" sz="2600" b="1" dirty="0"/>
            </a:br>
            <a:r>
              <a:rPr lang="en-GB" sz="2600" b="1" dirty="0"/>
              <a:t>Poe part 3 final presentation</a:t>
            </a:r>
            <a:endParaRPr lang="en-ZA" sz="2600" b="1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0445F16-66E8-C63B-F52E-187EF6F62D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935" y="1187240"/>
            <a:ext cx="7179970" cy="448748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885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296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AE134-223B-2891-0969-E3D90F1BF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Detail Updates from Part 2 to Part 3 (Based on Feedback)</a:t>
            </a:r>
            <a:br>
              <a:rPr lang="en-GB" b="1" dirty="0"/>
            </a:b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328C46-E463-D3A5-FA1A-C4CD6F1EE1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" y="2197434"/>
            <a:ext cx="4516167" cy="374015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B93489-47DB-4706-B4ED-BD19F2C6DF99}"/>
              </a:ext>
            </a:extLst>
          </p:cNvPr>
          <p:cNvSpPr txBox="1"/>
          <p:nvPr/>
        </p:nvSpPr>
        <p:spPr>
          <a:xfrm>
            <a:off x="5316267" y="2197434"/>
            <a:ext cx="6097002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cap="all" spc="30" dirty="0">
                <a:solidFill>
                  <a:srgbClr val="000000"/>
                </a:solidFill>
                <a:latin typeface="Univers Condensed"/>
                <a:ea typeface="+mj-ea"/>
                <a:cs typeface="+mj-cs"/>
              </a:rPr>
              <a:t>1. Error handling on claim form:</a:t>
            </a:r>
          </a:p>
          <a:p>
            <a:endParaRPr lang="en-GB" sz="1200" b="1" cap="all" spc="30" dirty="0">
              <a:solidFill>
                <a:srgbClr val="000000"/>
              </a:solidFill>
              <a:latin typeface="Univers Condensed"/>
              <a:ea typeface="+mj-ea"/>
              <a:cs typeface="+mj-cs"/>
            </a:endParaRPr>
          </a:p>
          <a:p>
            <a:r>
              <a:rPr lang="en-GB" sz="1200" b="1" cap="all" spc="30" dirty="0">
                <a:solidFill>
                  <a:srgbClr val="000000"/>
                </a:solidFill>
                <a:latin typeface="Univers Condensed"/>
                <a:ea typeface="+mj-ea"/>
                <a:cs typeface="+mj-cs"/>
              </a:rPr>
              <a:t>Feedback: "Fix error handling on claim form" (</a:t>
            </a:r>
            <a:r>
              <a:rPr lang="en-GB" sz="1200" b="1" cap="all" spc="30" dirty="0" err="1">
                <a:solidFill>
                  <a:srgbClr val="000000"/>
                </a:solidFill>
                <a:latin typeface="Univers Condensed"/>
                <a:ea typeface="+mj-ea"/>
                <a:cs typeface="+mj-cs"/>
              </a:rPr>
              <a:t>MArk</a:t>
            </a:r>
            <a:r>
              <a:rPr lang="en-GB" sz="1200" b="1" cap="all" spc="30" dirty="0">
                <a:solidFill>
                  <a:srgbClr val="000000"/>
                </a:solidFill>
                <a:latin typeface="Univers Condensed"/>
                <a:ea typeface="+mj-ea"/>
                <a:cs typeface="+mj-cs"/>
              </a:rPr>
              <a:t>: 17/20)</a:t>
            </a:r>
          </a:p>
          <a:p>
            <a:endParaRPr lang="en-GB" sz="1200" b="1" cap="all" spc="30" dirty="0">
              <a:solidFill>
                <a:srgbClr val="000000"/>
              </a:solidFill>
              <a:latin typeface="Univers Condensed"/>
              <a:ea typeface="+mj-ea"/>
              <a:cs typeface="+mj-cs"/>
            </a:endParaRPr>
          </a:p>
          <a:p>
            <a:r>
              <a:rPr lang="en-GB" sz="1200" b="1" cap="all" spc="30" dirty="0">
                <a:solidFill>
                  <a:srgbClr val="000000"/>
                </a:solidFill>
                <a:latin typeface="Univers Condensed"/>
                <a:ea typeface="+mj-ea"/>
                <a:cs typeface="+mj-cs"/>
              </a:rPr>
              <a:t>THE ISSUE: The screenshot in the feedback showed a </a:t>
            </a:r>
            <a:r>
              <a:rPr lang="en-GB" sz="1200" b="1" cap="all" spc="30" dirty="0" err="1">
                <a:solidFill>
                  <a:srgbClr val="000000"/>
                </a:solidFill>
                <a:latin typeface="Univers Condensed"/>
                <a:ea typeface="+mj-ea"/>
                <a:cs typeface="+mj-cs"/>
              </a:rPr>
              <a:t>System.OverflowException</a:t>
            </a:r>
            <a:r>
              <a:rPr lang="en-GB" sz="1200" b="1" cap="all" spc="30" dirty="0">
                <a:solidFill>
                  <a:srgbClr val="000000"/>
                </a:solidFill>
                <a:latin typeface="Univers Condensed"/>
                <a:ea typeface="+mj-ea"/>
                <a:cs typeface="+mj-cs"/>
              </a:rPr>
              <a:t> when a user entered a massive number (5000000000...) into the Rate field.</a:t>
            </a:r>
          </a:p>
          <a:p>
            <a:endParaRPr lang="en-GB" sz="1200" b="1" cap="all" spc="30" dirty="0">
              <a:solidFill>
                <a:srgbClr val="000000"/>
              </a:solidFill>
              <a:latin typeface="Univers Condensed"/>
              <a:ea typeface="+mj-ea"/>
              <a:cs typeface="+mj-cs"/>
            </a:endParaRPr>
          </a:p>
          <a:p>
            <a:r>
              <a:rPr lang="en-GB" sz="1200" b="1" cap="all" spc="30" dirty="0">
                <a:solidFill>
                  <a:srgbClr val="000000"/>
                </a:solidFill>
                <a:latin typeface="Univers Condensed"/>
                <a:ea typeface="+mj-ea"/>
                <a:cs typeface="+mj-cs"/>
              </a:rPr>
              <a:t>The Fix: In Part 3, I HAVE Automated the Rate.</a:t>
            </a:r>
          </a:p>
          <a:p>
            <a:endParaRPr lang="en-GB" sz="1200" b="1" cap="all" spc="30" dirty="0">
              <a:solidFill>
                <a:srgbClr val="000000"/>
              </a:solidFill>
              <a:latin typeface="Univers Condensed"/>
              <a:ea typeface="+mj-ea"/>
              <a:cs typeface="+mj-cs"/>
            </a:endParaRPr>
          </a:p>
          <a:p>
            <a:r>
              <a:rPr lang="en-GB" sz="1200" b="1" cap="all" spc="30" dirty="0">
                <a:solidFill>
                  <a:srgbClr val="000000"/>
                </a:solidFill>
                <a:latin typeface="Univers Condensed"/>
                <a:ea typeface="+mj-ea"/>
                <a:cs typeface="+mj-cs"/>
              </a:rPr>
              <a:t>Lecturers cannot type in the HOURLY rate anymore; it is pulled from the database and locked (</a:t>
            </a:r>
            <a:r>
              <a:rPr lang="en-GB" sz="1200" b="1" cap="all" spc="30" dirty="0" err="1">
                <a:solidFill>
                  <a:srgbClr val="000000"/>
                </a:solidFill>
                <a:latin typeface="Univers Condensed"/>
                <a:ea typeface="+mj-ea"/>
                <a:cs typeface="+mj-cs"/>
              </a:rPr>
              <a:t>readonly</a:t>
            </a:r>
            <a:r>
              <a:rPr lang="en-GB" sz="1200" b="1" cap="all" spc="30" dirty="0">
                <a:solidFill>
                  <a:srgbClr val="000000"/>
                </a:solidFill>
                <a:latin typeface="Univers Condensed"/>
                <a:ea typeface="+mj-ea"/>
                <a:cs typeface="+mj-cs"/>
              </a:rPr>
              <a:t>). THE HR TYPES OUT THE HOURLY RATE WHEN EDITING THE LECTURER'S INFORMATION.</a:t>
            </a:r>
          </a:p>
          <a:p>
            <a:endParaRPr lang="en-GB" sz="1200" b="1" cap="all" spc="30" dirty="0">
              <a:solidFill>
                <a:srgbClr val="000000"/>
              </a:solidFill>
              <a:latin typeface="Univers Condensed"/>
              <a:ea typeface="+mj-ea"/>
              <a:cs typeface="+mj-cs"/>
            </a:endParaRPr>
          </a:p>
          <a:p>
            <a:r>
              <a:rPr lang="en-GB" sz="1200" b="1" cap="all" spc="30" dirty="0">
                <a:solidFill>
                  <a:srgbClr val="000000"/>
                </a:solidFill>
                <a:latin typeface="Univers Condensed"/>
                <a:ea typeface="+mj-ea"/>
                <a:cs typeface="+mj-cs"/>
              </a:rPr>
              <a:t>I also added explicit validation in </a:t>
            </a:r>
            <a:r>
              <a:rPr lang="en-GB" sz="1200" b="1" cap="all" spc="30" dirty="0" err="1">
                <a:solidFill>
                  <a:srgbClr val="000000"/>
                </a:solidFill>
                <a:latin typeface="Univers Condensed"/>
                <a:ea typeface="+mj-ea"/>
                <a:cs typeface="+mj-cs"/>
              </a:rPr>
              <a:t>DashboardController.cs</a:t>
            </a:r>
            <a:r>
              <a:rPr lang="en-GB" sz="1200" b="1" cap="all" spc="30" dirty="0">
                <a:solidFill>
                  <a:srgbClr val="000000"/>
                </a:solidFill>
                <a:latin typeface="Univers Condensed"/>
                <a:ea typeface="+mj-ea"/>
                <a:cs typeface="+mj-cs"/>
              </a:rPr>
              <a:t> (if (</a:t>
            </a:r>
            <a:r>
              <a:rPr lang="en-GB" sz="1200" b="1" cap="all" spc="30" dirty="0" err="1">
                <a:solidFill>
                  <a:srgbClr val="000000"/>
                </a:solidFill>
                <a:latin typeface="Univers Condensed"/>
                <a:ea typeface="+mj-ea"/>
                <a:cs typeface="+mj-cs"/>
              </a:rPr>
              <a:t>model.HoursWorked</a:t>
            </a:r>
            <a:r>
              <a:rPr lang="en-GB" sz="1200" b="1" cap="all" spc="30" dirty="0">
                <a:solidFill>
                  <a:srgbClr val="000000"/>
                </a:solidFill>
                <a:latin typeface="Univers Condensed"/>
                <a:ea typeface="+mj-ea"/>
                <a:cs typeface="+mj-cs"/>
              </a:rPr>
              <a:t> &gt; 24)) and </a:t>
            </a:r>
            <a:r>
              <a:rPr lang="en-GB" sz="1200" b="1" cap="all" spc="30" dirty="0" err="1">
                <a:solidFill>
                  <a:srgbClr val="000000"/>
                </a:solidFill>
                <a:latin typeface="Univers Condensed"/>
                <a:ea typeface="+mj-ea"/>
                <a:cs typeface="+mj-cs"/>
              </a:rPr>
              <a:t>ModelState.IsValid</a:t>
            </a:r>
            <a:r>
              <a:rPr lang="en-GB" sz="1200" b="1" cap="all" spc="30" dirty="0">
                <a:solidFill>
                  <a:srgbClr val="000000"/>
                </a:solidFill>
                <a:latin typeface="Univers Condensed"/>
                <a:ea typeface="+mj-ea"/>
                <a:cs typeface="+mj-cs"/>
              </a:rPr>
              <a:t> checks to catch errors before they crash the app. Validation: Server-side checks were added to ensure </a:t>
            </a:r>
            <a:r>
              <a:rPr lang="en-GB" sz="1200" b="1" cap="all" spc="30" dirty="0" err="1">
                <a:solidFill>
                  <a:srgbClr val="000000"/>
                </a:solidFill>
                <a:latin typeface="Univers Condensed"/>
                <a:ea typeface="+mj-ea"/>
                <a:cs typeface="+mj-cs"/>
              </a:rPr>
              <a:t>HoursWorked</a:t>
            </a:r>
            <a:r>
              <a:rPr lang="en-GB" sz="1200" b="1" cap="all" spc="30" dirty="0">
                <a:solidFill>
                  <a:srgbClr val="000000"/>
                </a:solidFill>
                <a:latin typeface="Univers Condensed"/>
                <a:ea typeface="+mj-ea"/>
                <a:cs typeface="+mj-cs"/>
              </a:rPr>
              <a:t> does not exceed logical limits (24h).</a:t>
            </a:r>
          </a:p>
          <a:p>
            <a:endParaRPr lang="en-ZA" sz="1200" dirty="0"/>
          </a:p>
        </p:txBody>
      </p:sp>
    </p:spTree>
    <p:extLst>
      <p:ext uri="{BB962C8B-B14F-4D97-AF65-F5344CB8AC3E}">
        <p14:creationId xmlns:p14="http://schemas.microsoft.com/office/powerpoint/2010/main" val="330345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4ABF6B1-3A9A-4CEE-889E-0D96AB03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4231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0AA8030-FA65-4B8E-8530-372EEE851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55390D5-9A6F-E673-86C0-B2EC562F26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31" y="1097381"/>
            <a:ext cx="4896970" cy="53083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8BA001-FA41-1C16-8E63-8ECAB3CECB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2135" y="1097381"/>
            <a:ext cx="4879865" cy="23545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69CECD-09E1-30B9-6517-D6BC3D70CB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2134" y="3864964"/>
            <a:ext cx="4879865" cy="226913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5F4E7B6-7B29-DB76-657D-75749CBF2CF4}"/>
              </a:ext>
            </a:extLst>
          </p:cNvPr>
          <p:cNvSpPr txBox="1"/>
          <p:nvPr/>
        </p:nvSpPr>
        <p:spPr>
          <a:xfrm>
            <a:off x="5101201" y="1097381"/>
            <a:ext cx="21177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cap="all" spc="30" dirty="0">
                <a:solidFill>
                  <a:srgbClr val="000000"/>
                </a:solidFill>
                <a:latin typeface="Univers Condensed"/>
              </a:rPr>
              <a:t>&lt; HR FUNCTION ONLY ALLOWED TO EDIT HOURLY RATE FOR LECTURER</a:t>
            </a:r>
            <a:endParaRPr kumimoji="0" lang="en-GB" sz="1200" b="1" i="0" u="none" strike="noStrike" kern="1200" cap="all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ivers Condensed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5B60EC-A80E-64F4-8FCB-67621AD28140}"/>
              </a:ext>
            </a:extLst>
          </p:cNvPr>
          <p:cNvSpPr txBox="1"/>
          <p:nvPr/>
        </p:nvSpPr>
        <p:spPr>
          <a:xfrm>
            <a:off x="5101201" y="2117192"/>
            <a:ext cx="21177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GB" sz="1200" b="1" i="0" u="none" strike="noStrike" kern="1200" cap="all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&gt;</a:t>
            </a:r>
          </a:p>
          <a:p>
            <a:pPr algn="r"/>
            <a:r>
              <a:rPr kumimoji="0" lang="en-GB" sz="1200" b="1" i="0" u="none" strike="noStrike" kern="1200" cap="all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added explicit</a:t>
            </a:r>
            <a:r>
              <a:rPr lang="en-GB" sz="1200" b="1" cap="all" spc="30" dirty="0">
                <a:solidFill>
                  <a:srgbClr val="000000"/>
                </a:solidFill>
                <a:latin typeface="Univers Condensed"/>
              </a:rPr>
              <a:t> </a:t>
            </a:r>
            <a:r>
              <a:rPr kumimoji="0" lang="en-GB" sz="1200" b="1" i="0" u="none" strike="noStrike" kern="1200" cap="all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validation in </a:t>
            </a:r>
            <a:r>
              <a:rPr kumimoji="0" lang="en-GB" sz="1200" b="1" i="0" u="none" strike="noStrike" kern="1200" cap="all" spc="3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DashboardController.cs</a:t>
            </a:r>
            <a:r>
              <a:rPr kumimoji="0" lang="en-GB" sz="1200" b="1" i="0" u="none" strike="noStrike" kern="1200" cap="all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 (if (</a:t>
            </a:r>
            <a:r>
              <a:rPr kumimoji="0" lang="en-GB" sz="1200" b="1" i="0" u="none" strike="noStrike" kern="1200" cap="all" spc="3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model.HoursWorked</a:t>
            </a:r>
            <a:r>
              <a:rPr kumimoji="0" lang="en-GB" sz="1200" b="1" i="0" u="none" strike="noStrike" kern="1200" cap="all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 &gt; 24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480113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">
            <a:extLst>
              <a:ext uri="{FF2B5EF4-FFF2-40B4-BE49-F238E27FC236}">
                <a16:creationId xmlns:a16="http://schemas.microsoft.com/office/drawing/2014/main" id="{806FF7B3-68A9-D68B-FFF6-3FCC6CF515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40" y="896144"/>
            <a:ext cx="6561420" cy="506571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954E02-ED0A-3DD8-FDB4-488B7113D91B}"/>
              </a:ext>
            </a:extLst>
          </p:cNvPr>
          <p:cNvSpPr txBox="1"/>
          <p:nvPr/>
        </p:nvSpPr>
        <p:spPr>
          <a:xfrm>
            <a:off x="7376460" y="780826"/>
            <a:ext cx="4089635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cap="all" spc="30" dirty="0">
                <a:solidFill>
                  <a:srgbClr val="000000"/>
                </a:solidFill>
                <a:latin typeface="Univers Condensed"/>
                <a:ea typeface="+mj-ea"/>
                <a:cs typeface="+mj-cs"/>
              </a:rPr>
              <a:t>2. Document Upload </a:t>
            </a:r>
            <a:r>
              <a:rPr lang="en-GB" sz="1200" b="1" cap="all" spc="30" dirty="0" err="1">
                <a:solidFill>
                  <a:srgbClr val="000000"/>
                </a:solidFill>
                <a:latin typeface="Univers Condensed"/>
                <a:ea typeface="+mj-ea"/>
                <a:cs typeface="+mj-cs"/>
              </a:rPr>
              <a:t>FeedbacK</a:t>
            </a:r>
            <a:r>
              <a:rPr lang="en-GB" sz="1200" b="1" cap="all" spc="30" dirty="0">
                <a:solidFill>
                  <a:srgbClr val="000000"/>
                </a:solidFill>
                <a:latin typeface="Univers Condensed"/>
                <a:ea typeface="+mj-ea"/>
                <a:cs typeface="+mj-cs"/>
              </a:rPr>
              <a:t>:</a:t>
            </a:r>
          </a:p>
          <a:p>
            <a:endParaRPr lang="en-GB" sz="1200" b="1" cap="all" spc="30" dirty="0">
              <a:solidFill>
                <a:srgbClr val="000000"/>
              </a:solidFill>
              <a:latin typeface="Univers Condensed"/>
              <a:ea typeface="+mj-ea"/>
              <a:cs typeface="+mj-cs"/>
            </a:endParaRPr>
          </a:p>
          <a:p>
            <a:r>
              <a:rPr lang="en-GB" sz="1200" b="1" cap="all" spc="30" dirty="0">
                <a:solidFill>
                  <a:srgbClr val="000000"/>
                </a:solidFill>
                <a:latin typeface="Univers Condensed"/>
                <a:ea typeface="+mj-ea"/>
                <a:cs typeface="+mj-cs"/>
              </a:rPr>
              <a:t>Feedback: "Display a button to download documents“ (</a:t>
            </a:r>
            <a:r>
              <a:rPr lang="en-GB" sz="1200" b="1" cap="all" spc="30" dirty="0" err="1">
                <a:solidFill>
                  <a:srgbClr val="000000"/>
                </a:solidFill>
                <a:latin typeface="Univers Condensed"/>
                <a:ea typeface="+mj-ea"/>
                <a:cs typeface="+mj-cs"/>
              </a:rPr>
              <a:t>MArk</a:t>
            </a:r>
            <a:r>
              <a:rPr lang="en-GB" sz="1200" b="1" cap="all" spc="30" dirty="0">
                <a:solidFill>
                  <a:srgbClr val="000000"/>
                </a:solidFill>
                <a:latin typeface="Univers Condensed"/>
                <a:ea typeface="+mj-ea"/>
                <a:cs typeface="+mj-cs"/>
              </a:rPr>
              <a:t>: 17/20)</a:t>
            </a:r>
          </a:p>
          <a:p>
            <a:endParaRPr lang="en-GB" sz="1200" b="1" cap="all" spc="30" dirty="0">
              <a:solidFill>
                <a:srgbClr val="000000"/>
              </a:solidFill>
              <a:latin typeface="Univers Condensed"/>
              <a:ea typeface="+mj-ea"/>
              <a:cs typeface="+mj-cs"/>
            </a:endParaRPr>
          </a:p>
          <a:p>
            <a:r>
              <a:rPr lang="en-GB" sz="1200" b="1" cap="all" spc="30" dirty="0">
                <a:solidFill>
                  <a:srgbClr val="000000"/>
                </a:solidFill>
                <a:latin typeface="Univers Condensed"/>
                <a:ea typeface="+mj-ea"/>
                <a:cs typeface="+mj-cs"/>
              </a:rPr>
              <a:t>THE ISSUE: MY previous version just listed the file name as text. It wasn't obvious how to open it.</a:t>
            </a:r>
          </a:p>
          <a:p>
            <a:endParaRPr lang="en-GB" sz="1200" b="1" cap="all" spc="30" dirty="0">
              <a:solidFill>
                <a:srgbClr val="000000"/>
              </a:solidFill>
              <a:latin typeface="Univers Condensed"/>
              <a:ea typeface="+mj-ea"/>
              <a:cs typeface="+mj-cs"/>
            </a:endParaRPr>
          </a:p>
          <a:p>
            <a:r>
              <a:rPr lang="en-GB" sz="1200" b="1" cap="all" spc="30" dirty="0">
                <a:solidFill>
                  <a:srgbClr val="000000"/>
                </a:solidFill>
                <a:latin typeface="Univers Condensed"/>
                <a:ea typeface="+mj-ea"/>
                <a:cs typeface="+mj-cs"/>
              </a:rPr>
              <a:t>The Fix: A dedicated "Download" button was added to the My Claims grid. This button calls a new secure Controller Action </a:t>
            </a:r>
            <a:r>
              <a:rPr lang="en-GB" sz="1200" b="1" cap="all" spc="30" dirty="0" err="1">
                <a:solidFill>
                  <a:srgbClr val="000000"/>
                </a:solidFill>
                <a:latin typeface="Univers Condensed"/>
                <a:ea typeface="+mj-ea"/>
                <a:cs typeface="+mj-cs"/>
              </a:rPr>
              <a:t>DownloadFile</a:t>
            </a:r>
            <a:r>
              <a:rPr lang="en-GB" sz="1200" b="1" cap="all" spc="30" dirty="0">
                <a:solidFill>
                  <a:srgbClr val="000000"/>
                </a:solidFill>
                <a:latin typeface="Univers Condensed"/>
                <a:ea typeface="+mj-ea"/>
                <a:cs typeface="+mj-cs"/>
              </a:rPr>
              <a:t> which retrieves the file from the database and serves it to the user.</a:t>
            </a:r>
          </a:p>
        </p:txBody>
      </p:sp>
    </p:spTree>
    <p:extLst>
      <p:ext uri="{BB962C8B-B14F-4D97-AF65-F5344CB8AC3E}">
        <p14:creationId xmlns:p14="http://schemas.microsoft.com/office/powerpoint/2010/main" val="2416275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">
            <a:extLst>
              <a:ext uri="{FF2B5EF4-FFF2-40B4-BE49-F238E27FC236}">
                <a16:creationId xmlns:a16="http://schemas.microsoft.com/office/drawing/2014/main" id="{68F7121C-9794-EB31-92C0-AEE51345F7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554" y="793750"/>
            <a:ext cx="8434777" cy="527050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003342-713D-0C1E-0812-84E3A404F794}"/>
              </a:ext>
            </a:extLst>
          </p:cNvPr>
          <p:cNvSpPr txBox="1"/>
          <p:nvPr/>
        </p:nvSpPr>
        <p:spPr>
          <a:xfrm>
            <a:off x="8767331" y="843898"/>
            <a:ext cx="287923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GB" sz="1200" b="1" i="0" u="none" strike="noStrike" kern="1200" cap="all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&lt; A dedicated "Download" button was added to the My Claims grid. This button calls a new secure Controller Action </a:t>
            </a:r>
            <a:r>
              <a:rPr kumimoji="0" lang="en-GB" sz="1200" b="1" i="0" u="none" strike="noStrike" kern="1200" cap="all" spc="3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DownloadFile</a:t>
            </a:r>
            <a:r>
              <a:rPr kumimoji="0" lang="en-GB" sz="1200" b="1" i="0" u="none" strike="noStrike" kern="1200" cap="all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 which retrieves the file from the database and serves it to the user.</a:t>
            </a:r>
            <a:endParaRPr lang="en-Z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003A6D-8995-8BC2-8A08-1317271958A7}"/>
              </a:ext>
            </a:extLst>
          </p:cNvPr>
          <p:cNvSpPr txBox="1"/>
          <p:nvPr/>
        </p:nvSpPr>
        <p:spPr>
          <a:xfrm>
            <a:off x="8767331" y="2228893"/>
            <a:ext cx="28792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cap="all" spc="30" dirty="0">
                <a:solidFill>
                  <a:srgbClr val="000000"/>
                </a:solidFill>
                <a:latin typeface="Univers Condensed"/>
              </a:rPr>
              <a:t>&lt; There is now a download button underneath the document if there is one which also highlights when hovered over.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651922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1FE6BD-67D2-A85B-21BE-157DF1AEB7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835" y="761275"/>
            <a:ext cx="5276165" cy="5335449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5193B5-6BB4-4837-63C8-9A42BD2BC6CB}"/>
              </a:ext>
            </a:extLst>
          </p:cNvPr>
          <p:cNvSpPr txBox="1"/>
          <p:nvPr/>
        </p:nvSpPr>
        <p:spPr>
          <a:xfrm>
            <a:off x="6096000" y="761275"/>
            <a:ext cx="497656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cap="all" spc="30" dirty="0">
                <a:solidFill>
                  <a:srgbClr val="000000"/>
                </a:solidFill>
                <a:latin typeface="Univers Condensed"/>
                <a:ea typeface="+mj-ea"/>
                <a:cs typeface="+mj-cs"/>
              </a:rPr>
              <a:t>3. Unit Testing Feedback:</a:t>
            </a:r>
          </a:p>
          <a:p>
            <a:endParaRPr lang="en-GB" sz="1200" b="1" cap="all" spc="30" dirty="0">
              <a:solidFill>
                <a:srgbClr val="000000"/>
              </a:solidFill>
              <a:latin typeface="Univers Condensed"/>
              <a:ea typeface="+mj-ea"/>
              <a:cs typeface="+mj-cs"/>
            </a:endParaRPr>
          </a:p>
          <a:p>
            <a:r>
              <a:rPr lang="en-GB" sz="1200" b="1" cap="all" spc="30" dirty="0">
                <a:solidFill>
                  <a:srgbClr val="000000"/>
                </a:solidFill>
                <a:latin typeface="Univers Condensed"/>
                <a:ea typeface="+mj-ea"/>
                <a:cs typeface="+mj-cs"/>
              </a:rPr>
              <a:t>Feedback: "These tests don't validate any real application logic – they only check simple arithmetic and string behaviour already handled by C#." (mark: 5/10)</a:t>
            </a:r>
          </a:p>
          <a:p>
            <a:endParaRPr lang="en-GB" sz="1200" b="1" cap="all" spc="30" dirty="0">
              <a:solidFill>
                <a:srgbClr val="000000"/>
              </a:solidFill>
              <a:latin typeface="Univers Condensed"/>
              <a:ea typeface="+mj-ea"/>
              <a:cs typeface="+mj-cs"/>
            </a:endParaRPr>
          </a:p>
          <a:p>
            <a:r>
              <a:rPr lang="en-GB" sz="1200" b="1" cap="all" spc="30" dirty="0">
                <a:solidFill>
                  <a:srgbClr val="000000"/>
                </a:solidFill>
                <a:latin typeface="Univers Condensed"/>
                <a:ea typeface="+mj-ea"/>
                <a:cs typeface="+mj-cs"/>
              </a:rPr>
              <a:t>THE ISSUE: My old tests just checked if 20 * 670 = 13400. This is basic math, not testing my app's rules.</a:t>
            </a:r>
          </a:p>
          <a:p>
            <a:endParaRPr lang="en-GB" sz="1200" b="1" cap="all" spc="30" dirty="0">
              <a:solidFill>
                <a:srgbClr val="000000"/>
              </a:solidFill>
              <a:latin typeface="Univers Condensed"/>
              <a:ea typeface="+mj-ea"/>
              <a:cs typeface="+mj-cs"/>
            </a:endParaRPr>
          </a:p>
          <a:p>
            <a:r>
              <a:rPr lang="en-GB" sz="1200" b="1" cap="all" spc="30" dirty="0">
                <a:solidFill>
                  <a:srgbClr val="000000"/>
                </a:solidFill>
                <a:latin typeface="Univers Condensed"/>
                <a:ea typeface="+mj-ea"/>
                <a:cs typeface="+mj-cs"/>
              </a:rPr>
              <a:t>The Fix:  The Unit Testing suite was completely rewritten to test Business Rules rather than basic math. </a:t>
            </a:r>
            <a:r>
              <a:rPr lang="en-GB" sz="1200" b="1" cap="all" spc="30" dirty="0" err="1">
                <a:solidFill>
                  <a:srgbClr val="000000"/>
                </a:solidFill>
                <a:latin typeface="Univers Condensed"/>
                <a:ea typeface="+mj-ea"/>
                <a:cs typeface="+mj-cs"/>
              </a:rPr>
              <a:t>i</a:t>
            </a:r>
            <a:r>
              <a:rPr lang="en-GB" sz="1200" b="1" cap="all" spc="30" dirty="0">
                <a:solidFill>
                  <a:srgbClr val="000000"/>
                </a:solidFill>
                <a:latin typeface="Univers Condensed"/>
                <a:ea typeface="+mj-ea"/>
                <a:cs typeface="+mj-cs"/>
              </a:rPr>
              <a:t> added validation logic to the Claim model to throw exceptions for invalid data and then wrote tests to verify these exceptions are thrown.</a:t>
            </a:r>
          </a:p>
        </p:txBody>
      </p:sp>
    </p:spTree>
    <p:extLst>
      <p:ext uri="{BB962C8B-B14F-4D97-AF65-F5344CB8AC3E}">
        <p14:creationId xmlns:p14="http://schemas.microsoft.com/office/powerpoint/2010/main" val="1506494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B03657-1D0A-D0A4-2B7F-B89CC5B0EA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1" y="728744"/>
            <a:ext cx="7757779" cy="5400512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6E763B-EEB2-3E57-B0C6-C13A66C6F49D}"/>
              </a:ext>
            </a:extLst>
          </p:cNvPr>
          <p:cNvSpPr txBox="1"/>
          <p:nvPr/>
        </p:nvSpPr>
        <p:spPr>
          <a:xfrm>
            <a:off x="8557880" y="791851"/>
            <a:ext cx="353857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all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Test 1. Test to see Does the auto-calculation work?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1" cap="all" spc="30" dirty="0">
              <a:solidFill>
                <a:srgbClr val="000000"/>
              </a:solidFill>
              <a:latin typeface="Univers Condensed"/>
            </a:endParaRPr>
          </a:p>
          <a:p>
            <a:pPr lvl="0">
              <a:defRPr/>
            </a:pPr>
            <a:r>
              <a:rPr lang="en-GB" sz="1200" b="1" cap="all" spc="30" dirty="0">
                <a:solidFill>
                  <a:srgbClr val="000000"/>
                </a:solidFill>
                <a:latin typeface="Univers Condensed"/>
              </a:rPr>
              <a:t>Test 2. test to ensure Negative Values throw an error.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all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ivers Condensed"/>
              <a:ea typeface="+mn-ea"/>
              <a:cs typeface="+mn-cs"/>
            </a:endParaRPr>
          </a:p>
          <a:p>
            <a:pPr>
              <a:defRPr/>
            </a:pPr>
            <a:r>
              <a:rPr lang="en-GB" sz="1200" b="1" cap="all" spc="30" dirty="0">
                <a:solidFill>
                  <a:srgbClr val="000000"/>
                </a:solidFill>
                <a:latin typeface="Univers Condensed"/>
              </a:rPr>
              <a:t>TEST 3. test to ensure Hours &gt; 24 throws an error.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all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ivers Condensed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cap="all" spc="30" dirty="0">
                <a:solidFill>
                  <a:srgbClr val="000000"/>
                </a:solidFill>
                <a:latin typeface="Univers Condensed"/>
              </a:rPr>
              <a:t>Test 4. Test to ensure that status update works correctly</a:t>
            </a:r>
            <a:endParaRPr kumimoji="0" lang="en-GB" sz="1200" b="1" i="0" u="none" strike="noStrike" kern="1200" cap="all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ivers Condensed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1" cap="all" spc="30" dirty="0">
              <a:solidFill>
                <a:srgbClr val="000000"/>
              </a:solidFill>
              <a:latin typeface="Univers Condensed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cap="all" spc="30" dirty="0">
                <a:solidFill>
                  <a:srgbClr val="000000"/>
                </a:solidFill>
                <a:latin typeface="Univers Condensed"/>
              </a:rPr>
              <a:t>Test 5. Test to see if the rounding off logic works for financial reliability</a:t>
            </a:r>
          </a:p>
        </p:txBody>
      </p:sp>
    </p:spTree>
    <p:extLst>
      <p:ext uri="{BB962C8B-B14F-4D97-AF65-F5344CB8AC3E}">
        <p14:creationId xmlns:p14="http://schemas.microsoft.com/office/powerpoint/2010/main" val="137413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F42ECF-CABA-250C-0D63-01D69E4D9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kumimoji="0" lang="en-GB" sz="3100" b="1" i="0" u="none" strike="noStrike" kern="1200" cap="all" spc="30" normalizeH="0" baseline="0" noProof="0" dirty="0">
                <a:ln>
                  <a:noFill/>
                </a:ln>
                <a:effectLst/>
                <a:uLnTx/>
                <a:uFillTx/>
                <a:latin typeface="Univers Condensed"/>
                <a:ea typeface="+mj-ea"/>
                <a:cs typeface="+mj-cs"/>
              </a:rPr>
              <a:t>Design and Key Features of web app (Part 3 of Poe)</a:t>
            </a:r>
            <a:endParaRPr lang="en-ZA" sz="31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38B14-F2E4-8C35-A012-4EACF3C02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387600"/>
            <a:ext cx="3799763" cy="3767328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None/>
              <a:tabLst/>
              <a:defRPr/>
            </a:pPr>
            <a:r>
              <a:rPr kumimoji="0" lang="en-GB" sz="1400" b="1" i="0" u="none" strike="noStrike" kern="1200" cap="all" spc="30" normalizeH="0" baseline="0" noProof="0" dirty="0">
                <a:ln>
                  <a:noFill/>
                </a:ln>
                <a:effectLst/>
                <a:uLnTx/>
                <a:uFillTx/>
                <a:latin typeface="Univers Condensed"/>
                <a:ea typeface="+mn-ea"/>
                <a:cs typeface="+mn-cs"/>
              </a:rPr>
              <a:t>1. SQL Server Integration (Entity Framework Core):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None/>
              <a:tabLst/>
              <a:defRPr/>
            </a:pPr>
            <a:endParaRPr kumimoji="0" lang="en-GB" sz="1400" b="1" i="0" u="none" strike="noStrike" kern="1200" cap="all" spc="30" normalizeH="0" baseline="0" noProof="0" dirty="0">
              <a:ln>
                <a:noFill/>
              </a:ln>
              <a:effectLst/>
              <a:uLnTx/>
              <a:uFillTx/>
              <a:latin typeface="Univers Condensed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all" spc="30" normalizeH="0" baseline="0" noProof="0" dirty="0">
                <a:ln>
                  <a:noFill/>
                </a:ln>
                <a:effectLst/>
                <a:uLnTx/>
                <a:uFillTx/>
                <a:latin typeface="Univers Condensed"/>
                <a:ea typeface="+mn-ea"/>
                <a:cs typeface="+mn-cs"/>
              </a:rPr>
              <a:t>The system migrated from temporary In Memory lists (USERS, DOCUMENTS, ETC) to a persistent SQL Server Database. </a:t>
            </a:r>
            <a:r>
              <a:rPr lang="en-GB" sz="1400" b="1" cap="all" spc="30" dirty="0">
                <a:latin typeface="Univers Condensed"/>
              </a:rPr>
              <a:t>I</a:t>
            </a:r>
            <a:r>
              <a:rPr kumimoji="0" lang="en-GB" sz="1400" b="1" i="0" u="none" strike="noStrike" kern="1200" cap="all" spc="30" normalizeH="0" baseline="0" noProof="0" dirty="0">
                <a:ln>
                  <a:noFill/>
                </a:ln>
                <a:effectLst/>
                <a:uLnTx/>
                <a:uFillTx/>
                <a:latin typeface="Univers Condensed"/>
                <a:ea typeface="+mn-ea"/>
                <a:cs typeface="+mn-cs"/>
              </a:rPr>
              <a:t> used Entity Framework Core (Code-First) to map MY C# models directly to database tables.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all" spc="30" normalizeH="0" baseline="0" noProof="0" dirty="0">
              <a:ln>
                <a:noFill/>
              </a:ln>
              <a:effectLst/>
              <a:uLnTx/>
              <a:uFillTx/>
              <a:latin typeface="Univers Condensed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all" spc="30" normalizeH="0" baseline="0" noProof="0" dirty="0">
                <a:ln>
                  <a:noFill/>
                </a:ln>
                <a:effectLst/>
                <a:uLnTx/>
                <a:uFillTx/>
                <a:latin typeface="Univers Condensed"/>
                <a:ea typeface="+mn-ea"/>
                <a:cs typeface="+mn-cs"/>
              </a:rPr>
              <a:t>Key Design Decision: The Claim entity is linked to the User entity via a Foreign Key (</a:t>
            </a:r>
            <a:r>
              <a:rPr kumimoji="0" lang="en-GB" sz="1400" b="1" i="0" u="none" strike="noStrike" kern="1200" cap="all" spc="30" normalizeH="0" baseline="0" noProof="0" dirty="0" err="1">
                <a:ln>
                  <a:noFill/>
                </a:ln>
                <a:effectLst/>
                <a:uLnTx/>
                <a:uFillTx/>
                <a:latin typeface="Univers Condensed"/>
                <a:ea typeface="+mn-ea"/>
                <a:cs typeface="+mn-cs"/>
              </a:rPr>
              <a:t>LecturerId</a:t>
            </a:r>
            <a:r>
              <a:rPr kumimoji="0" lang="en-GB" sz="1400" b="1" i="0" u="none" strike="noStrike" kern="1200" cap="all" spc="30" normalizeH="0" baseline="0" noProof="0" dirty="0">
                <a:ln>
                  <a:noFill/>
                </a:ln>
                <a:effectLst/>
                <a:uLnTx/>
                <a:uFillTx/>
                <a:latin typeface="Univers Condensed"/>
                <a:ea typeface="+mn-ea"/>
                <a:cs typeface="+mn-cs"/>
              </a:rPr>
              <a:t>), ensuring referential integrity.</a:t>
            </a:r>
            <a:endParaRPr lang="en-ZA" sz="1400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6F12A6F-1F04-0068-6A77-B829FE78CC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" r="388" b="2"/>
          <a:stretch>
            <a:fillRect/>
          </a:stretch>
        </p:blipFill>
        <p:spPr>
          <a:xfrm>
            <a:off x="4572215" y="1052511"/>
            <a:ext cx="7551420" cy="47529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808EF1-B908-FC86-B60D-853C64E56F51}"/>
              </a:ext>
            </a:extLst>
          </p:cNvPr>
          <p:cNvSpPr txBox="1"/>
          <p:nvPr/>
        </p:nvSpPr>
        <p:spPr>
          <a:xfrm>
            <a:off x="4503850" y="761810"/>
            <a:ext cx="30214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GB" sz="1400" b="1" i="0" u="none" strike="noStrike" kern="1200" cap="all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Code SNIPPET: APPDBCONTEXT.CS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752423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F13C5-7F54-5A6E-101D-10D08906B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0952" y="1005719"/>
            <a:ext cx="2421559" cy="4846561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400" b="1" cap="all" spc="30" dirty="0">
                <a:solidFill>
                  <a:srgbClr val="000000"/>
                </a:solidFill>
                <a:latin typeface="Univers Condensed"/>
              </a:rPr>
              <a:t>2. </a:t>
            </a:r>
            <a:r>
              <a:rPr kumimoji="0" lang="en-GB" sz="1400" b="1" i="0" u="none" strike="noStrike" kern="1200" cap="all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 Automated Rate Calculation: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1" i="0" u="none" strike="noStrike" kern="1200" cap="all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To prevent fraud and human error, the "Hourly Rate" is no longer a manual input field for Lecturers. The system automatically looks up the logged-in user's approved rate from the database.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00" b="1" i="0" u="none" strike="noStrike" kern="1200" cap="all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ivers Condensed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1" i="0" u="none" strike="noStrike" kern="1200" cap="all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Workflow: When a claim is submitted, the Controller looks up the User ID, finds their specific </a:t>
            </a:r>
            <a:r>
              <a:rPr kumimoji="0" lang="en-GB" sz="1400" b="1" i="0" u="none" strike="noStrike" kern="1200" cap="all" spc="3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HourlyRate</a:t>
            </a:r>
            <a:r>
              <a:rPr kumimoji="0" lang="en-GB" sz="1400" b="1" i="0" u="none" strike="noStrike" kern="1200" cap="all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, and applies it to the claim calculation server-side.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00" b="1" i="0" u="none" strike="noStrike" kern="1200" cap="all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ivers Condensed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DE2B0D-870B-19F2-6E33-BB369269717E}"/>
              </a:ext>
            </a:extLst>
          </p:cNvPr>
          <p:cNvSpPr txBox="1"/>
          <p:nvPr/>
        </p:nvSpPr>
        <p:spPr>
          <a:xfrm>
            <a:off x="5720204" y="1956972"/>
            <a:ext cx="38877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1" i="0" u="none" strike="noStrike" kern="1200" cap="all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Code Snippet (</a:t>
            </a:r>
            <a:r>
              <a:rPr kumimoji="0" lang="en-GB" sz="1400" b="1" i="0" u="none" strike="noStrike" kern="1200" cap="all" spc="3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DashboardController.cs</a:t>
            </a:r>
            <a:r>
              <a:rPr kumimoji="0" lang="en-GB" sz="1400" b="1" i="0" u="none" strike="noStrike" kern="1200" cap="all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):</a:t>
            </a:r>
            <a:endParaRPr kumimoji="0" lang="en-ZA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7" name="Picture 6" descr="A screenshot of a computer">
            <a:extLst>
              <a:ext uri="{FF2B5EF4-FFF2-40B4-BE49-F238E27FC236}">
                <a16:creationId xmlns:a16="http://schemas.microsoft.com/office/drawing/2014/main" id="{F4FAF62D-6D59-9E4A-8540-DBA4EFF673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96" y="2264749"/>
            <a:ext cx="8698723" cy="2328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881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00566B-9002-5621-07B3-178C5E09D75D}"/>
              </a:ext>
            </a:extLst>
          </p:cNvPr>
          <p:cNvSpPr txBox="1"/>
          <p:nvPr/>
        </p:nvSpPr>
        <p:spPr>
          <a:xfrm>
            <a:off x="738438" y="820593"/>
            <a:ext cx="3604962" cy="327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400" b="1" cap="all" spc="30" dirty="0">
                <a:solidFill>
                  <a:srgbClr val="000000"/>
                </a:solidFill>
                <a:latin typeface="Univers Condensed"/>
              </a:rPr>
              <a:t>3</a:t>
            </a:r>
            <a:r>
              <a:rPr kumimoji="0" lang="en-GB" sz="1400" b="1" i="0" u="none" strike="noStrike" kern="1200" cap="all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. The HR "Super User“ (ADMIN):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1" i="0" u="none" strike="noStrike" kern="1200" cap="all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A new Role (HR) was introduced to manage the system. The HR Controller provides full CRUD (Create, Read, Update, Delete) capabilities for system users.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00" b="1" i="0" u="none" strike="noStrike" kern="1200" cap="all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ivers Condensed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1" i="0" u="none" strike="noStrike" kern="1200" cap="all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Design: This allows the COMPANY to centrally manage approved rates and user access without touching the database directly.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00" b="1" i="0" u="none" strike="noStrike" kern="1200" cap="all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ivers Condensed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1" i="0" u="none" strike="noStrike" kern="1200" cap="all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Code Snippet (</a:t>
            </a:r>
            <a:r>
              <a:rPr kumimoji="0" lang="en-GB" sz="1400" b="1" i="0" u="none" strike="noStrike" kern="1200" cap="all" spc="3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HRController.cs</a:t>
            </a:r>
            <a:r>
              <a:rPr kumimoji="0" lang="en-GB" sz="1400" b="1" i="0" u="none" strike="noStrike" kern="1200" cap="all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):</a:t>
            </a:r>
          </a:p>
        </p:txBody>
      </p:sp>
      <p:pic>
        <p:nvPicPr>
          <p:cNvPr id="9" name="Picture 8" descr="A screen shot of a computer program">
            <a:extLst>
              <a:ext uri="{FF2B5EF4-FFF2-40B4-BE49-F238E27FC236}">
                <a16:creationId xmlns:a16="http://schemas.microsoft.com/office/drawing/2014/main" id="{339BE3DD-F955-A06C-4C4D-B435D5E614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82" y="773538"/>
            <a:ext cx="3752509" cy="5306074"/>
          </a:xfrm>
          <a:prstGeom prst="rect">
            <a:avLst/>
          </a:prstGeom>
        </p:spPr>
      </p:pic>
      <p:pic>
        <p:nvPicPr>
          <p:cNvPr id="11" name="Picture 10" descr="A screenshot of a computer program">
            <a:extLst>
              <a:ext uri="{FF2B5EF4-FFF2-40B4-BE49-F238E27FC236}">
                <a16:creationId xmlns:a16="http://schemas.microsoft.com/office/drawing/2014/main" id="{11017FD5-624C-F702-DC4D-9C17FB9202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6280" y="775962"/>
            <a:ext cx="3169578" cy="530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230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089FFC8-BAD8-D5FA-0866-D1740600A4AA}"/>
              </a:ext>
            </a:extLst>
          </p:cNvPr>
          <p:cNvSpPr txBox="1"/>
          <p:nvPr/>
        </p:nvSpPr>
        <p:spPr>
          <a:xfrm>
            <a:off x="708359" y="747108"/>
            <a:ext cx="2737183" cy="4355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1" i="0" u="none" strike="noStrike" kern="1200" cap="all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4. Invoice Generation: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1" i="0" u="none" strike="noStrike" kern="1200" cap="all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The final requirement was a reporting feature. I implemented an "Invoices" view that aggregates all Approved claims and calculates the total payout required.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00" b="1" i="0" u="none" strike="noStrike" kern="1200" cap="all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ivers Condensed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1" i="0" u="none" strike="noStrike" kern="1200" cap="all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Design: The view uses specific CSS @media print queries to ensure the report prints cleanly to PDF without navigation bars or buttons.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00" b="1" i="0" u="none" strike="noStrike" kern="1200" cap="all" spc="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ivers Condensed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1" i="0" u="none" strike="noStrike" kern="1200" cap="all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Code Snippet (</a:t>
            </a:r>
            <a:r>
              <a:rPr kumimoji="0" lang="en-GB" sz="1400" b="1" i="0" u="none" strike="noStrike" kern="1200" cap="all" spc="3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Invoices.cshtml</a:t>
            </a:r>
            <a:r>
              <a:rPr kumimoji="0" lang="en-GB" sz="1400" b="1" i="0" u="none" strike="noStrike" kern="1200" cap="all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):</a:t>
            </a:r>
          </a:p>
        </p:txBody>
      </p:sp>
      <p:pic>
        <p:nvPicPr>
          <p:cNvPr id="9" name="Picture 8" descr="A screen shot of a computer program">
            <a:extLst>
              <a:ext uri="{FF2B5EF4-FFF2-40B4-BE49-F238E27FC236}">
                <a16:creationId xmlns:a16="http://schemas.microsoft.com/office/drawing/2014/main" id="{0FD62C31-17A6-CBBE-1861-2E31D0DFE4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542" y="727863"/>
            <a:ext cx="3928311" cy="5402273"/>
          </a:xfrm>
          <a:prstGeom prst="rect">
            <a:avLst/>
          </a:prstGeom>
        </p:spPr>
      </p:pic>
      <p:pic>
        <p:nvPicPr>
          <p:cNvPr id="11" name="Picture 10" descr="A computer screen shot of a program">
            <a:extLst>
              <a:ext uri="{FF2B5EF4-FFF2-40B4-BE49-F238E27FC236}">
                <a16:creationId xmlns:a16="http://schemas.microsoft.com/office/drawing/2014/main" id="{457FED26-2DEF-9F33-A879-780FFDFBAB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3853" y="1979530"/>
            <a:ext cx="4320339" cy="293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195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CB57F7-FFEB-B724-3CAA-BB0757ED7AF2}"/>
              </a:ext>
            </a:extLst>
          </p:cNvPr>
          <p:cNvSpPr txBox="1"/>
          <p:nvPr/>
        </p:nvSpPr>
        <p:spPr>
          <a:xfrm>
            <a:off x="772026" y="2105561"/>
            <a:ext cx="10647947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600" b="1" cap="all" spc="30" dirty="0">
                <a:solidFill>
                  <a:srgbClr val="000000"/>
                </a:solidFill>
                <a:latin typeface="Univers Condensed"/>
                <a:ea typeface="+mj-ea"/>
                <a:cs typeface="+mj-cs"/>
              </a:rPr>
              <a:t>Thank YOU</a:t>
            </a:r>
            <a:endParaRPr lang="en-ZA" sz="9600" dirty="0"/>
          </a:p>
        </p:txBody>
      </p:sp>
    </p:spTree>
    <p:extLst>
      <p:ext uri="{BB962C8B-B14F-4D97-AF65-F5344CB8AC3E}">
        <p14:creationId xmlns:p14="http://schemas.microsoft.com/office/powerpoint/2010/main" val="502195575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829</Words>
  <Application>Microsoft Office PowerPoint</Application>
  <PresentationFormat>Widescreen</PresentationFormat>
  <Paragraphs>66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ChronicleVTI</vt:lpstr>
      <vt:lpstr>Contract Monthly Claim System  PROG6212 ST10453511 Moegammad Alexander Group 1  Poe part 3 final presentation</vt:lpstr>
      <vt:lpstr>Detail Updates from Part 2 to Part 3 (Based on Feedback)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Design and Key Features of web app (Part 3 of Poe)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Contract Monthly Claim System  PROG6212 ST10453511 Moegammad Alexander Group 1  Poe part 3 final presentation</dc:title>
  <dc:creator>Moegammad Yaaseen Alexander</dc:creator>
  <cp:lastModifiedBy>Moegammad Alexander</cp:lastModifiedBy>
  <cp:revision>2</cp:revision>
  <dcterms:created xsi:type="dcterms:W3CDTF">2025-11-20T13:54:49Z</dcterms:created>
  <dcterms:modified xsi:type="dcterms:W3CDTF">2025-11-21T17:08:41Z</dcterms:modified>
</cp:coreProperties>
</file>